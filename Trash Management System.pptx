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Nuni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fntdata"/><Relationship Id="rId14" Type="http://schemas.openxmlformats.org/officeDocument/2006/relationships/font" Target="fonts/Nunito-regular.fntdata"/><Relationship Id="rId17" Type="http://schemas.openxmlformats.org/officeDocument/2006/relationships/font" Target="fonts/Nunito-boldItalic.fntdata"/><Relationship Id="rId16"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259b031f4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259b031f4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259b031f45_0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259b031f45_0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59b031f45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59b031f45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59b031f45_0_1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259b031f45_0_1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59b031f45_0_1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59b031f45_0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59a864b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259a864b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259b031f45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259b031f45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3"/>
          <p:cNvPicPr preferRelativeResize="0"/>
          <p:nvPr/>
        </p:nvPicPr>
        <p:blipFill>
          <a:blip r:embed="rId3">
            <a:alphaModFix/>
          </a:blip>
          <a:stretch>
            <a:fillRect/>
          </a:stretch>
        </p:blipFill>
        <p:spPr>
          <a:xfrm>
            <a:off x="3701375" y="379700"/>
            <a:ext cx="1551926" cy="1177250"/>
          </a:xfrm>
          <a:prstGeom prst="rect">
            <a:avLst/>
          </a:prstGeom>
          <a:noFill/>
          <a:ln>
            <a:noFill/>
          </a:ln>
        </p:spPr>
      </p:pic>
      <p:sp>
        <p:nvSpPr>
          <p:cNvPr id="129" name="Google Shape;129;p13"/>
          <p:cNvSpPr txBox="1"/>
          <p:nvPr/>
        </p:nvSpPr>
        <p:spPr>
          <a:xfrm>
            <a:off x="2939525" y="2064850"/>
            <a:ext cx="3642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45818E"/>
                </a:solidFill>
                <a:latin typeface="Times New Roman"/>
                <a:ea typeface="Times New Roman"/>
                <a:cs typeface="Times New Roman"/>
                <a:sym typeface="Times New Roman"/>
              </a:rPr>
              <a:t>Project: Trash Management System</a:t>
            </a:r>
            <a:endParaRPr b="1" sz="1600">
              <a:solidFill>
                <a:srgbClr val="45818E"/>
              </a:solidFill>
              <a:latin typeface="Times New Roman"/>
              <a:ea typeface="Times New Roman"/>
              <a:cs typeface="Times New Roman"/>
              <a:sym typeface="Times New Roman"/>
            </a:endParaRPr>
          </a:p>
        </p:txBody>
      </p:sp>
      <p:sp>
        <p:nvSpPr>
          <p:cNvPr id="130" name="Google Shape;130;p13"/>
          <p:cNvSpPr txBox="1"/>
          <p:nvPr/>
        </p:nvSpPr>
        <p:spPr>
          <a:xfrm>
            <a:off x="3643000" y="2453625"/>
            <a:ext cx="201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274E13"/>
                </a:solidFill>
                <a:latin typeface="Calibri"/>
                <a:ea typeface="Calibri"/>
                <a:cs typeface="Calibri"/>
                <a:sym typeface="Calibri"/>
              </a:rPr>
              <a:t>Team : Fusion-0.2</a:t>
            </a:r>
            <a:endParaRPr b="1" sz="1600">
              <a:solidFill>
                <a:srgbClr val="274E13"/>
              </a:solidFill>
              <a:latin typeface="Calibri"/>
              <a:ea typeface="Calibri"/>
              <a:cs typeface="Calibri"/>
              <a:sym typeface="Calibri"/>
            </a:endParaRPr>
          </a:p>
        </p:txBody>
      </p:sp>
      <p:sp>
        <p:nvSpPr>
          <p:cNvPr id="131" name="Google Shape;131;p13"/>
          <p:cNvSpPr txBox="1"/>
          <p:nvPr/>
        </p:nvSpPr>
        <p:spPr>
          <a:xfrm>
            <a:off x="2320238" y="2823000"/>
            <a:ext cx="4397700" cy="978900"/>
          </a:xfrm>
          <a:prstGeom prst="rect">
            <a:avLst/>
          </a:prstGeom>
          <a:noFill/>
          <a:ln>
            <a:noFill/>
          </a:ln>
        </p:spPr>
        <p:txBody>
          <a:bodyPr anchorCtr="0" anchor="t" bIns="91425" lIns="91425" spcFirstLastPara="1" rIns="91425" wrap="square" tIns="91425">
            <a:spAutoFit/>
          </a:bodyPr>
          <a:lstStyle/>
          <a:p>
            <a:pPr indent="0" lvl="0" marL="914400" rtl="0" algn="l">
              <a:spcBef>
                <a:spcPts val="0"/>
              </a:spcBef>
              <a:spcAft>
                <a:spcPts val="0"/>
              </a:spcAft>
              <a:buNone/>
            </a:pPr>
            <a:r>
              <a:rPr lang="en" sz="1200">
                <a:latin typeface="Calibri"/>
                <a:ea typeface="Calibri"/>
                <a:cs typeface="Calibri"/>
                <a:sym typeface="Calibri"/>
              </a:rPr>
              <a:t>                   </a:t>
            </a:r>
            <a:r>
              <a:rPr lang="en" sz="1200" u="sng">
                <a:latin typeface="Calibri"/>
                <a:ea typeface="Calibri"/>
                <a:cs typeface="Calibri"/>
                <a:sym typeface="Calibri"/>
              </a:rPr>
              <a:t>Team Members</a:t>
            </a:r>
            <a:endParaRPr sz="1200" u="sng">
              <a:latin typeface="Calibri"/>
              <a:ea typeface="Calibri"/>
              <a:cs typeface="Calibri"/>
              <a:sym typeface="Calibri"/>
            </a:endParaRPr>
          </a:p>
          <a:p>
            <a:pPr indent="0" lvl="0" marL="0" rtl="0" algn="ctr">
              <a:lnSpc>
                <a:spcPct val="115000"/>
              </a:lnSpc>
              <a:spcBef>
                <a:spcPts val="0"/>
              </a:spcBef>
              <a:spcAft>
                <a:spcPts val="0"/>
              </a:spcAft>
              <a:buNone/>
            </a:pPr>
            <a:r>
              <a:rPr lang="en" sz="1200">
                <a:latin typeface="Calibri"/>
                <a:ea typeface="Calibri"/>
                <a:cs typeface="Calibri"/>
                <a:sym typeface="Calibri"/>
              </a:rPr>
              <a:t>Abdullah Al Mofael (011181267)</a:t>
            </a:r>
            <a:endParaRPr sz="1200">
              <a:latin typeface="Calibri"/>
              <a:ea typeface="Calibri"/>
              <a:cs typeface="Calibri"/>
              <a:sym typeface="Calibri"/>
            </a:endParaRPr>
          </a:p>
          <a:p>
            <a:pPr indent="0" lvl="0" marL="0" rtl="0" algn="ctr">
              <a:lnSpc>
                <a:spcPct val="115000"/>
              </a:lnSpc>
              <a:spcBef>
                <a:spcPts val="0"/>
              </a:spcBef>
              <a:spcAft>
                <a:spcPts val="0"/>
              </a:spcAft>
              <a:buNone/>
            </a:pPr>
            <a:r>
              <a:rPr lang="en" sz="1200">
                <a:latin typeface="Calibri"/>
                <a:ea typeface="Calibri"/>
                <a:cs typeface="Calibri"/>
                <a:sym typeface="Calibri"/>
              </a:rPr>
              <a:t>S.M Sayeed Hossain(011191114)</a:t>
            </a:r>
            <a:endParaRPr sz="1200">
              <a:latin typeface="Calibri"/>
              <a:ea typeface="Calibri"/>
              <a:cs typeface="Calibri"/>
              <a:sym typeface="Calibri"/>
            </a:endParaRPr>
          </a:p>
          <a:p>
            <a:pPr indent="0" lvl="0" marL="0" rtl="0" algn="ctr">
              <a:spcBef>
                <a:spcPts val="0"/>
              </a:spcBef>
              <a:spcAft>
                <a:spcPts val="0"/>
              </a:spcAft>
              <a:buNone/>
            </a:pPr>
            <a:r>
              <a:rPr lang="en" sz="1200">
                <a:latin typeface="Calibri"/>
                <a:ea typeface="Calibri"/>
                <a:cs typeface="Calibri"/>
                <a:sym typeface="Calibri"/>
              </a:rPr>
              <a:t>Md. Maruf Raihan   (011201196)</a:t>
            </a:r>
            <a:endParaRPr sz="1200">
              <a:latin typeface="Calibri"/>
              <a:ea typeface="Calibri"/>
              <a:cs typeface="Calibri"/>
              <a:sym typeface="Calibri"/>
            </a:endParaRPr>
          </a:p>
        </p:txBody>
      </p:sp>
      <p:sp>
        <p:nvSpPr>
          <p:cNvPr id="132" name="Google Shape;132;p13"/>
          <p:cNvSpPr txBox="1"/>
          <p:nvPr/>
        </p:nvSpPr>
        <p:spPr>
          <a:xfrm>
            <a:off x="2710250" y="3921325"/>
            <a:ext cx="4240800" cy="116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                                 </a:t>
            </a:r>
            <a:r>
              <a:rPr lang="en" sz="1200" u="sng">
                <a:latin typeface="Times New Roman"/>
                <a:ea typeface="Times New Roman"/>
                <a:cs typeface="Times New Roman"/>
                <a:sym typeface="Times New Roman"/>
              </a:rPr>
              <a:t>Submitted To</a:t>
            </a:r>
            <a:endParaRPr sz="1200" u="sng">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latin typeface="Times New Roman"/>
                <a:ea typeface="Times New Roman"/>
                <a:cs typeface="Times New Roman"/>
                <a:sym typeface="Times New Roman"/>
              </a:rPr>
              <a:t>                 Md Fakhruddin Gazzali Fahim </a:t>
            </a:r>
            <a:endParaRPr b="1"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1200">
                <a:latin typeface="Times New Roman"/>
                <a:ea typeface="Times New Roman"/>
                <a:cs typeface="Times New Roman"/>
                <a:sym typeface="Times New Roman"/>
              </a:rPr>
              <a:t>         Lecturer, United International University.</a:t>
            </a:r>
            <a:endParaRPr b="1"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
        <p:nvSpPr>
          <p:cNvPr id="133" name="Google Shape;133;p13"/>
          <p:cNvSpPr txBox="1"/>
          <p:nvPr/>
        </p:nvSpPr>
        <p:spPr>
          <a:xfrm>
            <a:off x="2291850" y="1556950"/>
            <a:ext cx="4560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latin typeface="Times New Roman"/>
                <a:ea typeface="Times New Roman"/>
                <a:cs typeface="Times New Roman"/>
                <a:sym typeface="Times New Roman"/>
              </a:rPr>
              <a:t>       United</a:t>
            </a:r>
            <a:r>
              <a:rPr lang="en" sz="2100">
                <a:latin typeface="Times New Roman"/>
                <a:ea typeface="Times New Roman"/>
                <a:cs typeface="Times New Roman"/>
                <a:sym typeface="Times New Roman"/>
              </a:rPr>
              <a:t> International </a:t>
            </a:r>
            <a:r>
              <a:rPr b="1" lang="en" sz="2100">
                <a:latin typeface="Times New Roman"/>
                <a:ea typeface="Times New Roman"/>
                <a:cs typeface="Times New Roman"/>
                <a:sym typeface="Times New Roman"/>
              </a:rPr>
              <a:t>University</a:t>
            </a:r>
            <a:endParaRPr b="1" sz="21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type="title"/>
          </p:nvPr>
        </p:nvSpPr>
        <p:spPr>
          <a:xfrm>
            <a:off x="819150" y="845600"/>
            <a:ext cx="7505700" cy="58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Proposal</a:t>
            </a:r>
            <a:endParaRPr/>
          </a:p>
        </p:txBody>
      </p:sp>
      <p:sp>
        <p:nvSpPr>
          <p:cNvPr id="139" name="Google Shape;139;p14"/>
          <p:cNvSpPr txBox="1"/>
          <p:nvPr>
            <p:ph idx="1" type="body"/>
          </p:nvPr>
        </p:nvSpPr>
        <p:spPr>
          <a:xfrm>
            <a:off x="819150" y="1473050"/>
            <a:ext cx="7505700" cy="296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Our </a:t>
            </a:r>
            <a:r>
              <a:rPr lang="en"/>
              <a:t>project</a:t>
            </a:r>
            <a:r>
              <a:rPr lang="en"/>
              <a:t> is about Trash Management System.</a:t>
            </a:r>
            <a:endParaRPr/>
          </a:p>
          <a:p>
            <a:pPr indent="0" lvl="0" marL="0" rtl="0" algn="l">
              <a:spcBef>
                <a:spcPts val="1200"/>
              </a:spcBef>
              <a:spcAft>
                <a:spcPts val="0"/>
              </a:spcAft>
              <a:buNone/>
            </a:pPr>
            <a:r>
              <a:rPr lang="en">
                <a:solidFill>
                  <a:schemeClr val="accent1"/>
                </a:solidFill>
              </a:rPr>
              <a:t>Why Trash management system?</a:t>
            </a:r>
            <a:endParaRPr>
              <a:solidFill>
                <a:schemeClr val="accent1"/>
              </a:solidFill>
            </a:endParaRPr>
          </a:p>
          <a:p>
            <a:pPr indent="0" lvl="0" marL="0" rtl="0" algn="l">
              <a:spcBef>
                <a:spcPts val="1200"/>
              </a:spcBef>
              <a:spcAft>
                <a:spcPts val="0"/>
              </a:spcAft>
              <a:buNone/>
            </a:pPr>
            <a:r>
              <a:rPr lang="en">
                <a:solidFill>
                  <a:srgbClr val="000000"/>
                </a:solidFill>
              </a:rPr>
              <a:t>The </a:t>
            </a:r>
            <a:r>
              <a:rPr lang="en">
                <a:solidFill>
                  <a:srgbClr val="000000"/>
                </a:solidFill>
              </a:rPr>
              <a:t>proposed idea for the Trash management system is a completely automated system that enables users and Trash management officials to monitor the amount of waste generated from each household and track the vehicles that transport the waste from each locality to the destination.</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ph type="title"/>
          </p:nvPr>
        </p:nvSpPr>
        <p:spPr>
          <a:xfrm>
            <a:off x="819150" y="845600"/>
            <a:ext cx="7505700" cy="64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Features</a:t>
            </a:r>
            <a:endParaRPr/>
          </a:p>
        </p:txBody>
      </p:sp>
      <p:sp>
        <p:nvSpPr>
          <p:cNvPr id="145" name="Google Shape;145;p15"/>
          <p:cNvSpPr txBox="1"/>
          <p:nvPr>
            <p:ph idx="1" type="body"/>
          </p:nvPr>
        </p:nvSpPr>
        <p:spPr>
          <a:xfrm>
            <a:off x="819150" y="1561925"/>
            <a:ext cx="7505700" cy="2876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Home</a:t>
            </a:r>
            <a:endParaRPr/>
          </a:p>
          <a:p>
            <a:pPr indent="-311150" lvl="0" marL="457200" rtl="0" algn="l">
              <a:spcBef>
                <a:spcPts val="0"/>
              </a:spcBef>
              <a:spcAft>
                <a:spcPts val="0"/>
              </a:spcAft>
              <a:buSzPts val="1300"/>
              <a:buChar char="●"/>
            </a:pPr>
            <a:r>
              <a:rPr lang="en"/>
              <a:t>About</a:t>
            </a:r>
            <a:endParaRPr/>
          </a:p>
          <a:p>
            <a:pPr indent="-311150" lvl="0" marL="457200" rtl="0" algn="l">
              <a:spcBef>
                <a:spcPts val="0"/>
              </a:spcBef>
              <a:spcAft>
                <a:spcPts val="0"/>
              </a:spcAft>
              <a:buSzPts val="1300"/>
              <a:buChar char="●"/>
            </a:pPr>
            <a:r>
              <a:rPr lang="en"/>
              <a:t>Login/Registration</a:t>
            </a:r>
            <a:endParaRPr/>
          </a:p>
          <a:p>
            <a:pPr indent="-311150" lvl="0" marL="457200" rtl="0" algn="l">
              <a:spcBef>
                <a:spcPts val="0"/>
              </a:spcBef>
              <a:spcAft>
                <a:spcPts val="0"/>
              </a:spcAft>
              <a:buSzPts val="1300"/>
              <a:buChar char="●"/>
            </a:pPr>
            <a:r>
              <a:rPr lang="en"/>
              <a:t>Services</a:t>
            </a:r>
            <a:endParaRPr/>
          </a:p>
          <a:p>
            <a:pPr indent="-311150" lvl="0" marL="457200" rtl="0" algn="l">
              <a:spcBef>
                <a:spcPts val="0"/>
              </a:spcBef>
              <a:spcAft>
                <a:spcPts val="0"/>
              </a:spcAft>
              <a:buSzPts val="1300"/>
              <a:buChar char="●"/>
            </a:pPr>
            <a:r>
              <a:rPr lang="en"/>
              <a:t>Daily Updates</a:t>
            </a:r>
            <a:endParaRPr/>
          </a:p>
          <a:p>
            <a:pPr indent="-311150" lvl="0" marL="457200" rtl="0" algn="l">
              <a:spcBef>
                <a:spcPts val="0"/>
              </a:spcBef>
              <a:spcAft>
                <a:spcPts val="0"/>
              </a:spcAft>
              <a:buSzPts val="1300"/>
              <a:buChar char="●"/>
            </a:pPr>
            <a:r>
              <a:rPr lang="en"/>
              <a:t>Complaint</a:t>
            </a:r>
            <a:endParaRPr/>
          </a:p>
          <a:p>
            <a:pPr indent="-311150" lvl="0" marL="457200" rtl="0" algn="l">
              <a:spcBef>
                <a:spcPts val="0"/>
              </a:spcBef>
              <a:spcAft>
                <a:spcPts val="0"/>
              </a:spcAft>
              <a:buSzPts val="1300"/>
              <a:buChar char="●"/>
            </a:pPr>
            <a:r>
              <a:rPr lang="en"/>
              <a:t>Area Information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txBox="1"/>
          <p:nvPr>
            <p:ph type="title"/>
          </p:nvPr>
        </p:nvSpPr>
        <p:spPr>
          <a:xfrm>
            <a:off x="819150" y="845600"/>
            <a:ext cx="7505700" cy="63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Weekly Updates</a:t>
            </a:r>
            <a:endParaRPr/>
          </a:p>
        </p:txBody>
      </p:sp>
      <p:pic>
        <p:nvPicPr>
          <p:cNvPr id="151" name="Google Shape;151;p16" title="Points scored"/>
          <p:cNvPicPr preferRelativeResize="0"/>
          <p:nvPr/>
        </p:nvPicPr>
        <p:blipFill>
          <a:blip r:embed="rId3">
            <a:alphaModFix/>
          </a:blip>
          <a:stretch>
            <a:fillRect/>
          </a:stretch>
        </p:blipFill>
        <p:spPr>
          <a:xfrm>
            <a:off x="355400" y="1520800"/>
            <a:ext cx="4216599" cy="3272326"/>
          </a:xfrm>
          <a:prstGeom prst="rect">
            <a:avLst/>
          </a:prstGeom>
          <a:noFill/>
          <a:ln>
            <a:noFill/>
          </a:ln>
        </p:spPr>
      </p:pic>
      <p:sp>
        <p:nvSpPr>
          <p:cNvPr id="152" name="Google Shape;152;p16"/>
          <p:cNvSpPr txBox="1"/>
          <p:nvPr/>
        </p:nvSpPr>
        <p:spPr>
          <a:xfrm>
            <a:off x="4632775" y="1677450"/>
            <a:ext cx="4167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libri"/>
                <a:ea typeface="Calibri"/>
                <a:cs typeface="Calibri"/>
                <a:sym typeface="Calibri"/>
              </a:rPr>
              <a:t>Week 1:</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
                <a:latin typeface="Calibri"/>
                <a:ea typeface="Calibri"/>
                <a:cs typeface="Calibri"/>
                <a:sym typeface="Calibri"/>
              </a:rPr>
              <a:t>Designing website, adding admin panel,staff monitor panel ( Front-end &amp; Back-end)</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
                <a:latin typeface="Calibri"/>
                <a:ea typeface="Calibri"/>
                <a:cs typeface="Calibri"/>
                <a:sym typeface="Calibri"/>
              </a:rPr>
              <a:t>Week 2:</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
                <a:latin typeface="Calibri"/>
                <a:ea typeface="Calibri"/>
                <a:cs typeface="Calibri"/>
                <a:sym typeface="Calibri"/>
              </a:rPr>
              <a:t>MySQL, PHP (Insert,Update,Delete areas), Services, complain. (Front-end &amp; Back-end)</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
                <a:latin typeface="Calibri"/>
                <a:ea typeface="Calibri"/>
                <a:cs typeface="Calibri"/>
                <a:sym typeface="Calibri"/>
              </a:rPr>
              <a:t>Week 3:</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lang="en">
                <a:latin typeface="Calibri"/>
                <a:ea typeface="Calibri"/>
                <a:cs typeface="Calibri"/>
                <a:sym typeface="Calibri"/>
              </a:rPr>
              <a:t>Overall reviews, finding bug and recover.</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819150" y="845600"/>
            <a:ext cx="7505700" cy="616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Distribution</a:t>
            </a:r>
            <a:endParaRPr/>
          </a:p>
        </p:txBody>
      </p:sp>
      <p:sp>
        <p:nvSpPr>
          <p:cNvPr id="158" name="Google Shape;158;p17"/>
          <p:cNvSpPr/>
          <p:nvPr/>
        </p:nvSpPr>
        <p:spPr>
          <a:xfrm>
            <a:off x="876875" y="1545225"/>
            <a:ext cx="868500" cy="350700"/>
          </a:xfrm>
          <a:prstGeom prst="notchedRightArrow">
            <a:avLst>
              <a:gd fmla="val 50000" name="adj1"/>
              <a:gd fmla="val 50000" name="adj2"/>
            </a:avLst>
          </a:prstGeom>
          <a:solidFill>
            <a:srgbClr val="A4C2F4"/>
          </a:solidFill>
          <a:ln cap="flat" cmpd="sng" w="9525">
            <a:solidFill>
              <a:srgbClr val="134F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txBox="1"/>
          <p:nvPr/>
        </p:nvSpPr>
        <p:spPr>
          <a:xfrm>
            <a:off x="1903900" y="1520475"/>
            <a:ext cx="48096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solidFill>
                  <a:srgbClr val="134F5C"/>
                </a:solidFill>
                <a:latin typeface="Calibri"/>
                <a:ea typeface="Calibri"/>
                <a:cs typeface="Calibri"/>
                <a:sym typeface="Calibri"/>
              </a:rPr>
              <a:t>Front-end</a:t>
            </a:r>
            <a:r>
              <a:rPr b="1" lang="en">
                <a:solidFill>
                  <a:srgbClr val="134F5C"/>
                </a:solidFill>
                <a:latin typeface="Calibri"/>
                <a:ea typeface="Calibri"/>
                <a:cs typeface="Calibri"/>
                <a:sym typeface="Calibri"/>
              </a:rPr>
              <a:t>: </a:t>
            </a:r>
            <a:r>
              <a:rPr lang="en" sz="1100">
                <a:solidFill>
                  <a:srgbClr val="134F5C"/>
                </a:solidFill>
                <a:latin typeface="Calibri"/>
                <a:ea typeface="Calibri"/>
                <a:cs typeface="Calibri"/>
                <a:sym typeface="Calibri"/>
              </a:rPr>
              <a:t>(</a:t>
            </a:r>
            <a:r>
              <a:rPr b="1" lang="en" sz="1100">
                <a:solidFill>
                  <a:srgbClr val="134F5C"/>
                </a:solidFill>
                <a:latin typeface="Calibri"/>
                <a:ea typeface="Calibri"/>
                <a:cs typeface="Calibri"/>
                <a:sym typeface="Calibri"/>
              </a:rPr>
              <a:t>HTML,CSS,Bootstrap v - 5.1.3</a:t>
            </a:r>
            <a:r>
              <a:rPr lang="en" sz="1100">
                <a:solidFill>
                  <a:srgbClr val="134F5C"/>
                </a:solidFill>
                <a:latin typeface="Calibri"/>
                <a:ea typeface="Calibri"/>
                <a:cs typeface="Calibri"/>
                <a:sym typeface="Calibri"/>
              </a:rPr>
              <a:t>)</a:t>
            </a:r>
            <a:endParaRPr sz="1100">
              <a:solidFill>
                <a:srgbClr val="134F5C"/>
              </a:solidFill>
              <a:latin typeface="Calibri"/>
              <a:ea typeface="Calibri"/>
              <a:cs typeface="Calibri"/>
              <a:sym typeface="Calibri"/>
            </a:endParaRPr>
          </a:p>
          <a:p>
            <a:pPr indent="0" lvl="0" marL="0" rtl="0" algn="l">
              <a:spcBef>
                <a:spcPts val="0"/>
              </a:spcBef>
              <a:spcAft>
                <a:spcPts val="0"/>
              </a:spcAft>
              <a:buNone/>
            </a:pPr>
            <a:r>
              <a:t/>
            </a:r>
            <a:endParaRPr sz="1100">
              <a:solidFill>
                <a:srgbClr val="134F5C"/>
              </a:solidFill>
              <a:latin typeface="Calibri"/>
              <a:ea typeface="Calibri"/>
              <a:cs typeface="Calibri"/>
              <a:sym typeface="Calibri"/>
            </a:endParaRPr>
          </a:p>
          <a:p>
            <a:pPr indent="457200" lvl="0" marL="0" rtl="0" algn="l">
              <a:spcBef>
                <a:spcPts val="0"/>
              </a:spcBef>
              <a:spcAft>
                <a:spcPts val="0"/>
              </a:spcAft>
              <a:buNone/>
            </a:pPr>
            <a:r>
              <a:rPr lang="en">
                <a:solidFill>
                  <a:srgbClr val="134F5C"/>
                </a:solidFill>
                <a:latin typeface="Calibri"/>
                <a:ea typeface="Calibri"/>
                <a:cs typeface="Calibri"/>
                <a:sym typeface="Calibri"/>
              </a:rPr>
              <a:t>S.M Syeed Hossain  (011 191 114) </a:t>
            </a:r>
            <a:endParaRPr>
              <a:solidFill>
                <a:srgbClr val="134F5C"/>
              </a:solidFill>
              <a:latin typeface="Calibri"/>
              <a:ea typeface="Calibri"/>
              <a:cs typeface="Calibri"/>
              <a:sym typeface="Calibri"/>
            </a:endParaRPr>
          </a:p>
          <a:p>
            <a:pPr indent="0" lvl="0" marL="0" rtl="0" algn="l">
              <a:spcBef>
                <a:spcPts val="0"/>
              </a:spcBef>
              <a:spcAft>
                <a:spcPts val="0"/>
              </a:spcAft>
              <a:buNone/>
            </a:pPr>
            <a:r>
              <a:t/>
            </a:r>
            <a:endParaRPr>
              <a:solidFill>
                <a:srgbClr val="134F5C"/>
              </a:solidFill>
              <a:latin typeface="Calibri"/>
              <a:ea typeface="Calibri"/>
              <a:cs typeface="Calibri"/>
              <a:sym typeface="Calibri"/>
            </a:endParaRPr>
          </a:p>
          <a:p>
            <a:pPr indent="457200" lvl="0" marL="0" rtl="0" algn="l">
              <a:spcBef>
                <a:spcPts val="0"/>
              </a:spcBef>
              <a:spcAft>
                <a:spcPts val="0"/>
              </a:spcAft>
              <a:buNone/>
            </a:pPr>
            <a:r>
              <a:rPr lang="en">
                <a:solidFill>
                  <a:srgbClr val="134F5C"/>
                </a:solidFill>
                <a:latin typeface="Calibri"/>
                <a:ea typeface="Calibri"/>
                <a:cs typeface="Calibri"/>
                <a:sym typeface="Calibri"/>
              </a:rPr>
              <a:t>Md. Maruf Raihan   (011 201 196)</a:t>
            </a:r>
            <a:endParaRPr>
              <a:solidFill>
                <a:srgbClr val="134F5C"/>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160" name="Google Shape;160;p17"/>
          <p:cNvSpPr/>
          <p:nvPr/>
        </p:nvSpPr>
        <p:spPr>
          <a:xfrm>
            <a:off x="876875" y="3259025"/>
            <a:ext cx="868500" cy="350700"/>
          </a:xfrm>
          <a:prstGeom prst="notched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txBox="1"/>
          <p:nvPr/>
        </p:nvSpPr>
        <p:spPr>
          <a:xfrm>
            <a:off x="1947625" y="3116600"/>
            <a:ext cx="37971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solidFill>
                  <a:srgbClr val="134F5C"/>
                </a:solidFill>
                <a:latin typeface="Calibri"/>
                <a:ea typeface="Calibri"/>
                <a:cs typeface="Calibri"/>
                <a:sym typeface="Calibri"/>
              </a:rPr>
              <a:t>Back-end:</a:t>
            </a:r>
            <a:endParaRPr sz="1100">
              <a:solidFill>
                <a:srgbClr val="134F5C"/>
              </a:solidFill>
              <a:latin typeface="Calibri"/>
              <a:ea typeface="Calibri"/>
              <a:cs typeface="Calibri"/>
              <a:sym typeface="Calibri"/>
            </a:endParaRPr>
          </a:p>
          <a:p>
            <a:pPr indent="0" lvl="0" marL="0" rtl="0" algn="l">
              <a:spcBef>
                <a:spcPts val="0"/>
              </a:spcBef>
              <a:spcAft>
                <a:spcPts val="0"/>
              </a:spcAft>
              <a:buNone/>
            </a:pPr>
            <a:r>
              <a:t/>
            </a:r>
            <a:endParaRPr sz="1100">
              <a:solidFill>
                <a:srgbClr val="134F5C"/>
              </a:solidFill>
              <a:latin typeface="Calibri"/>
              <a:ea typeface="Calibri"/>
              <a:cs typeface="Calibri"/>
              <a:sym typeface="Calibri"/>
            </a:endParaRPr>
          </a:p>
          <a:p>
            <a:pPr indent="457200" lvl="0" marL="0" rtl="0" algn="l">
              <a:spcBef>
                <a:spcPts val="0"/>
              </a:spcBef>
              <a:spcAft>
                <a:spcPts val="0"/>
              </a:spcAft>
              <a:buNone/>
            </a:pPr>
            <a:r>
              <a:rPr lang="en">
                <a:solidFill>
                  <a:srgbClr val="134F5C"/>
                </a:solidFill>
                <a:latin typeface="Calibri"/>
                <a:ea typeface="Calibri"/>
                <a:cs typeface="Calibri"/>
                <a:sym typeface="Calibri"/>
              </a:rPr>
              <a:t>Abdullah Al Mofael (011 181 </a:t>
            </a:r>
            <a:r>
              <a:rPr lang="en">
                <a:solidFill>
                  <a:srgbClr val="134F5C"/>
                </a:solidFill>
                <a:latin typeface="Calibri"/>
                <a:ea typeface="Calibri"/>
                <a:cs typeface="Calibri"/>
                <a:sym typeface="Calibri"/>
              </a:rPr>
              <a:t>267)</a:t>
            </a:r>
            <a:endParaRPr>
              <a:solidFill>
                <a:srgbClr val="134F5C"/>
              </a:solidFill>
              <a:latin typeface="Calibri"/>
              <a:ea typeface="Calibri"/>
              <a:cs typeface="Calibri"/>
              <a:sym typeface="Calibri"/>
            </a:endParaRPr>
          </a:p>
          <a:p>
            <a:pPr indent="0" lvl="0" marL="0" rtl="0" algn="l">
              <a:spcBef>
                <a:spcPts val="0"/>
              </a:spcBef>
              <a:spcAft>
                <a:spcPts val="0"/>
              </a:spcAft>
              <a:buNone/>
            </a:pPr>
            <a:r>
              <a:t/>
            </a:r>
            <a:endParaRPr>
              <a:solidFill>
                <a:srgbClr val="134F5C"/>
              </a:solidFill>
              <a:latin typeface="Calibri"/>
              <a:ea typeface="Calibri"/>
              <a:cs typeface="Calibri"/>
              <a:sym typeface="Calibri"/>
            </a:endParaRPr>
          </a:p>
          <a:p>
            <a:pPr indent="457200" lvl="0" marL="0" rtl="0" algn="l">
              <a:spcBef>
                <a:spcPts val="0"/>
              </a:spcBef>
              <a:spcAft>
                <a:spcPts val="0"/>
              </a:spcAft>
              <a:buNone/>
            </a:pPr>
            <a:r>
              <a:rPr lang="en">
                <a:solidFill>
                  <a:srgbClr val="134F5C"/>
                </a:solidFill>
                <a:latin typeface="Calibri"/>
                <a:ea typeface="Calibri"/>
                <a:cs typeface="Calibri"/>
                <a:sym typeface="Calibri"/>
              </a:rPr>
              <a:t>Md. Maruf Raihan   (011 201 196)</a:t>
            </a:r>
            <a:endParaRPr>
              <a:solidFill>
                <a:srgbClr val="134F5C"/>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819150" y="845600"/>
            <a:ext cx="7505700" cy="68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our project is unique???</a:t>
            </a:r>
            <a:endParaRPr/>
          </a:p>
        </p:txBody>
      </p:sp>
      <p:sp>
        <p:nvSpPr>
          <p:cNvPr id="167" name="Google Shape;167;p18"/>
          <p:cNvSpPr txBox="1"/>
          <p:nvPr>
            <p:ph idx="1" type="body"/>
          </p:nvPr>
        </p:nvSpPr>
        <p:spPr>
          <a:xfrm>
            <a:off x="819150" y="1673450"/>
            <a:ext cx="7505700" cy="2448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400"/>
              <a:t>Our project (Trash Management System) helps users and Trash management officials to monitor the amount of waste generated from each household and track the vehicles location that is used to transport the trash from each locality to destination.</a:t>
            </a:r>
            <a:endParaRPr sz="1400"/>
          </a:p>
          <a:p>
            <a:pPr indent="0" lvl="0" marL="0" rtl="0" algn="just">
              <a:spcBef>
                <a:spcPts val="1200"/>
              </a:spcBef>
              <a:spcAft>
                <a:spcPts val="1200"/>
              </a:spcAft>
              <a:buNone/>
            </a:pPr>
            <a:r>
              <a:rPr lang="en" sz="1400"/>
              <a:t>The concept of green-points can be implemented that would encourage the involvement of the residents or the end users making the idea successful and helping to achieve joined efforts for the trash management and hence fulfilling the idea of green environment.</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txBox="1"/>
          <p:nvPr>
            <p:ph type="title"/>
          </p:nvPr>
        </p:nvSpPr>
        <p:spPr>
          <a:xfrm>
            <a:off x="326525" y="294525"/>
            <a:ext cx="75057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 Diagram</a:t>
            </a:r>
            <a:endParaRPr/>
          </a:p>
        </p:txBody>
      </p:sp>
      <p:pic>
        <p:nvPicPr>
          <p:cNvPr id="173" name="Google Shape;173;p19"/>
          <p:cNvPicPr preferRelativeResize="0"/>
          <p:nvPr/>
        </p:nvPicPr>
        <p:blipFill>
          <a:blip r:embed="rId3">
            <a:alphaModFix/>
          </a:blip>
          <a:stretch>
            <a:fillRect/>
          </a:stretch>
        </p:blipFill>
        <p:spPr>
          <a:xfrm>
            <a:off x="2705475" y="200900"/>
            <a:ext cx="4425425" cy="474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type="title"/>
          </p:nvPr>
        </p:nvSpPr>
        <p:spPr>
          <a:xfrm>
            <a:off x="2894900" y="2029350"/>
            <a:ext cx="39660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4200">
                <a:solidFill>
                  <a:srgbClr val="134F5C"/>
                </a:solidFill>
              </a:rPr>
              <a:t>Thank You</a:t>
            </a:r>
            <a:endParaRPr b="1" sz="4200">
              <a:solidFill>
                <a:srgbClr val="134F5C"/>
              </a:solidFill>
            </a:endParaRPr>
          </a:p>
        </p:txBody>
      </p:sp>
      <p:pic>
        <p:nvPicPr>
          <p:cNvPr id="179" name="Google Shape;179;p20"/>
          <p:cNvPicPr preferRelativeResize="0"/>
          <p:nvPr/>
        </p:nvPicPr>
        <p:blipFill>
          <a:blip r:embed="rId3">
            <a:alphaModFix/>
          </a:blip>
          <a:stretch>
            <a:fillRect/>
          </a:stretch>
        </p:blipFill>
        <p:spPr>
          <a:xfrm>
            <a:off x="5565650" y="2029350"/>
            <a:ext cx="1854750" cy="1854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